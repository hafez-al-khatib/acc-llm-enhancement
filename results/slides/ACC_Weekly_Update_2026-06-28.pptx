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F4E79"/>
                </a:solidFill>
                <a:latin typeface="Calibri"/>
              </a:defRPr>
            </a:pPr>
            <a:r>
              <a:t>ACC: Neuroscience-Inspired Hallucination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91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404040"/>
                </a:solidFill>
                <a:latin typeface="Calibri"/>
              </a:defRPr>
            </a:pPr>
            <a:r>
              <a:t>Weekly Research Update — June 28,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7F7F7F"/>
                </a:solidFill>
                <a:latin typeface="Calibri"/>
              </a:defRPr>
            </a:pPr>
            <a:r>
              <a:t>Hafez Al-Khatib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17920"/>
            <a:ext cx="12191695" cy="640080"/>
          </a:xfrm>
          <a:prstGeom prst="rect">
            <a:avLst/>
          </a:prstGeom>
          <a:solidFill>
            <a:srgbClr val="4472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Problem: LLMs Hallucinate Without Self-Correction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404040"/>
                </a:solidFill>
                <a:latin typeface="Calibri"/>
              </a:defRPr>
            </a:pPr>
            <a:r>
              <a:t>• Large language models generate fluent but ungrounded statements.</a:t>
            </a:r>
          </a:p>
          <a:p>
            <a:pPr>
              <a:spcAft>
                <a:spcPts val="1000"/>
              </a:spcAft>
              <a:defRPr sz="1800">
                <a:solidFill>
                  <a:srgbClr val="404040"/>
                </a:solidFill>
                <a:latin typeface="Calibri"/>
              </a:defRPr>
            </a:pPr>
            <a:r>
              <a:t>• Existing methods detect hallucination after output is complete (post-hoc).</a:t>
            </a:r>
          </a:p>
          <a:p>
            <a:pPr>
              <a:spcAft>
                <a:spcPts val="1000"/>
              </a:spcAft>
              <a:defRPr sz="1800">
                <a:solidFill>
                  <a:srgbClr val="404040"/>
                </a:solidFill>
                <a:latin typeface="Calibri"/>
              </a:defRPr>
            </a:pPr>
            <a:r>
              <a:t>• Our goal: intervene during generation, inspired by conflict monitoring in the anterior cingulate cortex (ACC).</a:t>
            </a:r>
          </a:p>
          <a:p>
            <a:pPr>
              <a:spcAft>
                <a:spcPts val="1000"/>
              </a:spcAft>
              <a:defRPr sz="1800">
                <a:solidFill>
                  <a:srgbClr val="404040"/>
                </a:solidFill>
                <a:latin typeface="Calibri"/>
              </a:defRPr>
            </a:pPr>
            <a:r>
              <a:t>• Core hypothesis: prediction errors between hierarchical layers signal when the model is departing from reliable patterns.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Approach: Predictive Coding + Conflict Monitoring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404040"/>
                </a:solidFill>
                <a:latin typeface="Calibri"/>
              </a:defRPr>
            </a:pPr>
            <a:r>
              <a:t>• Predictive coding: each layer predicts the next layer's representation.</a:t>
            </a:r>
          </a:p>
          <a:p>
            <a:pPr>
              <a:spcAft>
                <a:spcPts val="1000"/>
              </a:spcAft>
              <a:defRPr sz="1700">
                <a:solidFill>
                  <a:srgbClr val="404040"/>
                </a:solidFill>
                <a:latin typeface="Calibri"/>
              </a:defRPr>
            </a:pPr>
            <a:r>
              <a:t>• Large prediction error = potential conflict.</a:t>
            </a:r>
          </a:p>
          <a:p>
            <a:pPr>
              <a:spcAft>
                <a:spcPts val="1000"/>
              </a:spcAft>
              <a:defRPr sz="1700">
                <a:solidFill>
                  <a:srgbClr val="404040"/>
                </a:solidFill>
                <a:latin typeface="Calibri"/>
              </a:defRPr>
            </a:pPr>
            <a:r>
              <a:t>• Leaky integrator accumulates evidence over tokens.</a:t>
            </a:r>
          </a:p>
          <a:p>
            <a:pPr>
              <a:spcAft>
                <a:spcPts val="1000"/>
              </a:spcAft>
              <a:defRPr sz="1700">
                <a:solidFill>
                  <a:srgbClr val="404040"/>
                </a:solidFill>
                <a:latin typeface="Calibri"/>
              </a:defRPr>
            </a:pPr>
            <a:r>
              <a:t>• Decision engine maps conflict + entropy to actions: flag, regenerate, warn.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5544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404040"/>
                </a:solidFill>
                <a:latin typeface="Calibri"/>
              </a:defRPr>
            </a:pPr>
            <a:r>
              <a:t>Generation → Hidden States</a:t>
            </a:r>
            <a:br/>
            <a:r>
              <a:t>↓</a:t>
            </a:r>
            <a:br/>
            <a:r>
              <a:t>Prediction-Error Features</a:t>
            </a:r>
            <a:br/>
            <a:r>
              <a:t>↓</a:t>
            </a:r>
            <a:br/>
            <a:r>
              <a:t>MLP Detector</a:t>
            </a:r>
            <a:br/>
            <a:r>
              <a:t>↓</a:t>
            </a:r>
            <a:br/>
            <a:r>
              <a:t>Conflict Score + Entropy</a:t>
            </a:r>
            <a:br/>
            <a:r>
              <a:t>↓</a:t>
            </a:r>
            <a:br/>
            <a:r>
              <a:t>Decision Engine</a:t>
            </a:r>
            <a:br/>
            <a:r>
              <a:t>↓</a:t>
            </a:r>
            <a:br/>
            <a:r>
              <a:t>Intervention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What We Built This Week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404040"/>
                </a:solidFill>
                <a:latin typeface="Calibri"/>
              </a:defRPr>
            </a:pPr>
            <a:r>
              <a:t>• Baseline detectors: DoLa, SAPLMA, Entropy.</a:t>
            </a:r>
          </a:p>
          <a:p>
            <a:pPr>
              <a:spcAft>
                <a:spcPts val="1000"/>
              </a:spcAft>
              <a:defRPr sz="1800">
                <a:solidFill>
                  <a:srgbClr val="404040"/>
                </a:solidFill>
                <a:latin typeface="Calibri"/>
              </a:defRPr>
            </a:pPr>
            <a:r>
              <a:t>• ACC intervention engine: draft → detect → regenerate with uncertainty priming.</a:t>
            </a:r>
          </a:p>
          <a:p>
            <a:pPr>
              <a:spcAft>
                <a:spcPts val="1000"/>
              </a:spcAft>
              <a:defRPr sz="1800">
                <a:solidFill>
                  <a:srgbClr val="404040"/>
                </a:solidFill>
                <a:latin typeface="Calibri"/>
              </a:defRPr>
            </a:pPr>
            <a:r>
              <a:t>• Model-specific detector training on Qwen2.5-1.5B (600 token-level examples).</a:t>
            </a:r>
          </a:p>
          <a:p>
            <a:pPr>
              <a:spcAft>
                <a:spcPts val="1000"/>
              </a:spcAft>
              <a:defRPr sz="1800">
                <a:solidFill>
                  <a:srgbClr val="404040"/>
                </a:solidFill>
                <a:latin typeface="Calibri"/>
              </a:defRPr>
            </a:pPr>
            <a:r>
              <a:t>• Unified evaluation script with fair comparison controls.</a:t>
            </a:r>
          </a:p>
          <a:p>
            <a:pPr>
              <a:spcAft>
                <a:spcPts val="1000"/>
              </a:spcAft>
              <a:defRPr sz="1800">
                <a:solidFill>
                  <a:srgbClr val="404040"/>
                </a:solidFill>
                <a:latin typeface="Calibri"/>
              </a:defRPr>
            </a:pPr>
            <a:r>
              <a:t>• Colab GPU notebook for larger-scale experiments.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Evaluation: Fair Comparison 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404040"/>
                </a:solidFill>
                <a:latin typeface="Calibri"/>
              </a:defRPr>
            </a:pPr>
            <a:r>
              <a:t>• Same 10 prompts across all methods.</a:t>
            </a:r>
          </a:p>
          <a:p>
            <a:pPr>
              <a:spcAft>
                <a:spcPts val="1000"/>
              </a:spcAft>
              <a:defRPr sz="1800">
                <a:solidFill>
                  <a:srgbClr val="404040"/>
                </a:solidFill>
                <a:latin typeface="Calibri"/>
              </a:defRPr>
            </a:pPr>
            <a:r>
              <a:t>• Same random seeds for reproducibility.</a:t>
            </a:r>
          </a:p>
          <a:p>
            <a:pPr>
              <a:spcAft>
                <a:spcPts val="1000"/>
              </a:spcAft>
              <a:defRPr sz="1800">
                <a:solidFill>
                  <a:srgbClr val="404040"/>
                </a:solidFill>
                <a:latin typeface="Calibri"/>
              </a:defRPr>
            </a:pPr>
            <a:r>
              <a:t>• Same softmax sampling strategy (no unfair top-p differences).</a:t>
            </a:r>
          </a:p>
          <a:p>
            <a:pPr>
              <a:spcAft>
                <a:spcPts val="1000"/>
              </a:spcAft>
              <a:defRPr sz="1800">
                <a:solidFill>
                  <a:srgbClr val="404040"/>
                </a:solidFill>
                <a:latin typeface="Calibri"/>
              </a:defRPr>
            </a:pPr>
            <a:r>
              <a:t>• Same judge function: substring-based correctness + uncertainty markers.</a:t>
            </a:r>
          </a:p>
          <a:p>
            <a:pPr>
              <a:spcAft>
                <a:spcPts val="1000"/>
              </a:spcAft>
              <a:defRPr sz="1800">
                <a:solidFill>
                  <a:srgbClr val="404040"/>
                </a:solidFill>
                <a:latin typeface="Calibri"/>
              </a:defRPr>
            </a:pPr>
            <a:r>
              <a:t>• SAPLMA trained on held-out prompts to avoid data leakage.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Results: Generation Accuracy</a:t>
            </a:r>
          </a:p>
        </p:txBody>
      </p:sp>
      <p:pic>
        <p:nvPicPr>
          <p:cNvPr id="4" name="Picture 3" descr="accuracy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10972800" cy="610527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7F7F"/>
                </a:solidFill>
                <a:latin typeface="Calibri"/>
              </a:defRPr>
            </a:pPr>
            <a:r>
              <a:t>ACC improves over baseline, but absolute numbers remain modest.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Results: Detection Quality vs. Selectivity</a:t>
            </a:r>
          </a:p>
        </p:txBody>
      </p:sp>
      <p:pic>
        <p:nvPicPr>
          <p:cNvPr id="4" name="Picture 3" descr="detection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10972800" cy="4604007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7F7F"/>
                </a:solidFill>
                <a:latin typeface="Calibri"/>
              </a:defRPr>
            </a:pPr>
            <a:r>
              <a:t>DoLa has highest F1 but flags 100% of tokens. ACC balances F1 and selectivity.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Results: ACC Improvement by Question Type</a:t>
            </a:r>
          </a:p>
        </p:txBody>
      </p:sp>
      <p:pic>
        <p:nvPicPr>
          <p:cNvPr id="4" name="Picture 3" descr="per_type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1371600"/>
            <a:ext cx="5943600" cy="35282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6692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404040"/>
                </a:solidFill>
                <a:latin typeface="Calibri"/>
              </a:defRPr>
            </a:pPr>
            <a:r>
              <a:t>ACC gains come from factual questions. Hallucination and uncertainty detection remain at chance on this model.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Stronger Intervention: Logit-Shift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404040"/>
                </a:solidFill>
                <a:latin typeface="Calibri"/>
              </a:defRPr>
            </a:pPr>
            <a:r>
              <a:t>• Phrase-based intervention only changes the prompt prefix.</a:t>
            </a:r>
          </a:p>
          <a:p>
            <a:pPr>
              <a:spcAft>
                <a:spcPts val="1000"/>
              </a:spcAft>
              <a:defRPr sz="1800">
                <a:solidFill>
                  <a:srgbClr val="404040"/>
                </a:solidFill>
                <a:latin typeface="Calibri"/>
              </a:defRPr>
            </a:pPr>
            <a:r>
              <a:t>• Logit-shift directly biases the output distribution toward uncertainty tokens.</a:t>
            </a:r>
          </a:p>
          <a:p>
            <a:pPr>
              <a:spcAft>
                <a:spcPts val="1000"/>
              </a:spcAft>
              <a:defRPr sz="1800">
                <a:solidFill>
                  <a:srgbClr val="404040"/>
                </a:solidFill>
                <a:latin typeface="Calibri"/>
              </a:defRPr>
            </a:pPr>
            <a:r>
              <a:t>• Implemented in src/acc_intervention.py: generate_with_logit_shift().</a:t>
            </a:r>
          </a:p>
          <a:p>
            <a:pPr>
              <a:spcAft>
                <a:spcPts val="1000"/>
              </a:spcAft>
              <a:defRPr sz="1800">
                <a:solidFill>
                  <a:srgbClr val="404040"/>
                </a:solidFill>
                <a:latin typeface="Calibri"/>
              </a:defRPr>
            </a:pPr>
            <a:r>
              <a:t>• Tokens like 'I am not sure', 'actually', 'wait' receive a positive bias when conflict is high.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Ablation Study: Component Contributions</a:t>
            </a:r>
          </a:p>
        </p:txBody>
      </p:sp>
      <p:pic>
        <p:nvPicPr>
          <p:cNvPr id="4" name="Picture 3" descr="ablation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10972800" cy="6583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7F7F"/>
                </a:solidFill>
                <a:latin typeface="Calibri"/>
              </a:defRPr>
            </a:pPr>
            <a:r>
              <a:t>Logit-shift (absolute threshold) reaches 80% vs. 50% baseline on 1.5B.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Key Insight: Scale Is the Bottleneck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F4E79"/>
                </a:solidFill>
                <a:latin typeface="Calibri"/>
              </a:defRPr>
            </a:pPr>
            <a:r>
              <a:t>The detector works (83% validation accuracy), and the intervention pipeline works, but Qwen2.5-1.5B lacks the capacity to consistently act on the signal.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749039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404040"/>
                </a:solidFill>
                <a:latin typeface="Calibri"/>
              </a:defRPr>
            </a:pPr>
            <a:r>
              <a:t>• Factual questions improve because the model knows the answer.</a:t>
            </a:r>
          </a:p>
          <a:p>
            <a:pPr>
              <a:spcAft>
                <a:spcPts val="1000"/>
              </a:spcAft>
              <a:defRPr sz="1700">
                <a:solidFill>
                  <a:srgbClr val="404040"/>
                </a:solidFill>
                <a:latin typeface="Calibri"/>
              </a:defRPr>
            </a:pPr>
            <a:r>
              <a:t>• Hallucination prompts produce inconsistent behavior regardless of detector.</a:t>
            </a:r>
          </a:p>
          <a:p>
            <a:pPr>
              <a:spcAft>
                <a:spcPts val="1000"/>
              </a:spcAft>
              <a:defRPr sz="1700">
                <a:solidFill>
                  <a:srgbClr val="404040"/>
                </a:solidFill>
                <a:latin typeface="Calibri"/>
              </a:defRPr>
            </a:pPr>
            <a:r>
              <a:t>• Next step: evaluate on Qwen2.5-7B via Colab GPU.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Critical Bugs Found &amp; Fixed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404040"/>
                </a:solidFill>
                <a:latin typeface="Calibri"/>
              </a:defRPr>
            </a:pPr>
            <a:r>
              <a:t>• Inverted synthetic logits: detector always predicted 'supported'. Fixed mapping.</a:t>
            </a:r>
          </a:p>
          <a:p>
            <a:pPr>
              <a:spcAft>
                <a:spcPts val="1000"/>
              </a:spcAft>
              <a:defRPr sz="1700">
                <a:solidFill>
                  <a:srgbClr val="404040"/>
                </a:solidFill>
                <a:latin typeface="Calibri"/>
              </a:defRPr>
            </a:pPr>
            <a:r>
              <a:t>• Post-hoc mismatch: detection re-ran generation with different random sample. Now caches hidden states during main pass.</a:t>
            </a:r>
          </a:p>
          <a:p>
            <a:pPr>
              <a:spcAft>
                <a:spcPts val="1000"/>
              </a:spcAft>
              <a:defRPr sz="1700">
                <a:solidFill>
                  <a:srgbClr val="404040"/>
                </a:solidFill>
                <a:latin typeface="Calibri"/>
              </a:defRPr>
            </a:pPr>
            <a:r>
              <a:t>• Gradient leak: explainability backward() accumulated gradients on model weights. Now uses torch.autograd.grad.</a:t>
            </a:r>
          </a:p>
          <a:p>
            <a:pPr>
              <a:spcAft>
                <a:spcPts val="1000"/>
              </a:spcAft>
              <a:defRPr sz="1700">
                <a:solidFill>
                  <a:srgbClr val="404040"/>
                </a:solidFill>
                <a:latin typeface="Calibri"/>
              </a:defRPr>
            </a:pPr>
            <a:r>
              <a:t>• Plus: unfair sampling, SAPLMA data leakage, missing hook cleanup.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Code Audit: Quality Now Validated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404040"/>
                </a:solidFill>
                <a:latin typeface="Calibri"/>
              </a:defRPr>
            </a:pPr>
            <a:r>
              <a:t>• Audited 7 core files across architecture, integration, baselines, evaluation.</a:t>
            </a:r>
          </a:p>
          <a:p>
            <a:pPr>
              <a:spcAft>
                <a:spcPts val="1000"/>
              </a:spcAft>
              <a:defRPr sz="1800">
                <a:solidFill>
                  <a:srgbClr val="404040"/>
                </a:solidFill>
                <a:latin typeface="Calibri"/>
              </a:defRPr>
            </a:pPr>
            <a:r>
              <a:t>• Identified 20 ranked issues in results/code_audit_report.md.</a:t>
            </a:r>
          </a:p>
          <a:p>
            <a:pPr>
              <a:spcAft>
                <a:spcPts val="1000"/>
              </a:spcAft>
              <a:defRPr sz="1800">
                <a:solidFill>
                  <a:srgbClr val="404040"/>
                </a:solidFill>
                <a:latin typeface="Calibri"/>
              </a:defRPr>
            </a:pPr>
            <a:r>
              <a:t>• All critical/high issues resolved or in progress.</a:t>
            </a:r>
          </a:p>
          <a:p>
            <a:pPr>
              <a:spcAft>
                <a:spcPts val="1000"/>
              </a:spcAft>
              <a:defRPr sz="1800">
                <a:solidFill>
                  <a:srgbClr val="404040"/>
                </a:solidFill>
                <a:latin typeface="Calibri"/>
              </a:defRPr>
            </a:pPr>
            <a:r>
              <a:t>• Logit-shift intervention and ablation study completed this week.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Next Step: Large-Scale Benchmark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404040"/>
                </a:solidFill>
                <a:latin typeface="Calibri"/>
              </a:defRPr>
            </a:pPr>
            <a:r>
              <a:t>• scripts/run_benchmark_eval.py: HaluEval + TruthfulQA + PubMedQA.</a:t>
            </a:r>
          </a:p>
          <a:p>
            <a:pPr>
              <a:spcAft>
                <a:spcPts val="1000"/>
              </a:spcAft>
              <a:defRPr sz="1800">
                <a:solidFill>
                  <a:srgbClr val="404040"/>
                </a:solidFill>
                <a:latin typeface="Calibri"/>
              </a:defRPr>
            </a:pPr>
            <a:r>
              <a:t>• LLM-as-judge, SelfCheckGPT baseline, bootstrap CIs, paired t-tests.</a:t>
            </a:r>
          </a:p>
          <a:p>
            <a:pPr>
              <a:spcAft>
                <a:spcPts val="1000"/>
              </a:spcAft>
              <a:defRPr sz="1800">
                <a:solidFill>
                  <a:srgbClr val="404040"/>
                </a:solidFill>
                <a:latin typeface="Calibri"/>
              </a:defRPr>
            </a:pPr>
            <a:r>
              <a:t>• Run on Qwen2.5-7B via 4090 or Colab T4.</a:t>
            </a:r>
          </a:p>
          <a:p>
            <a:pPr>
              <a:spcAft>
                <a:spcPts val="1000"/>
              </a:spcAft>
              <a:defRPr sz="1800">
                <a:solidFill>
                  <a:srgbClr val="404040"/>
                </a:solidFill>
                <a:latin typeface="Calibri"/>
              </a:defRPr>
            </a:pPr>
            <a:r>
              <a:t>• Target: 200+ samples per benchmark for publication credibility.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Next Week's Plan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09728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5943600"/>
                <a:gridCol w="4297680"/>
              </a:tblGrid>
              <a:tr h="914400"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Run benchmark evaluation on Qwen2.5-7B (200+ samples)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Publication-scale metrics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Run full ablation on 7B (detector, threshold, intervention)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Component importance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Add more baselines (SelfCheckGPT, LMvsLM)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Stronger comparison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Draft methods section with neuroscience framework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Paper structure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Generate final figures for AAAI submission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Camera-ready visuals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Discussion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404040"/>
                </a:solidFill>
                <a:latin typeface="Calibri"/>
              </a:defRPr>
            </a:pPr>
            <a:r>
              <a:t>• Can we secure 4090 access this week for 7B benchmark runs?</a:t>
            </a:r>
          </a:p>
          <a:p>
            <a:pPr>
              <a:spcAft>
                <a:spcPts val="1000"/>
              </a:spcAft>
              <a:defRPr sz="2200">
                <a:solidFill>
                  <a:srgbClr val="404040"/>
                </a:solidFill>
                <a:latin typeface="Calibri"/>
              </a:defRPr>
            </a:pPr>
            <a:r>
              <a:t>• Should we invest in paid GPU hours if local/Colab access is unstable?</a:t>
            </a:r>
          </a:p>
          <a:p>
            <a:pPr>
              <a:spcAft>
                <a:spcPts val="1000"/>
              </a:spcAft>
              <a:defRPr sz="2200">
                <a:solidFill>
                  <a:srgbClr val="404040"/>
                </a:solidFill>
                <a:latin typeface="Calibri"/>
              </a:defRPr>
            </a:pPr>
            <a:r>
              <a:t>• Target venue: AAAI workshop first, then top-tier after scale + baselines?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